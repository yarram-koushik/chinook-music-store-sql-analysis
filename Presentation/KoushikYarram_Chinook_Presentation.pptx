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Plus Jakarta Sans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o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o3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o11-1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o8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o9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1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2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3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4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5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6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7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8.csv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ushik\Downloads\s11.csv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Top 5 Tracks in the USA by Revenue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'o2'!$D$1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'o2'!$A$2:$A$6</c:f>
              <c:strCache>
                <c:ptCount val="5"/>
                <c:pt idx="0">
                  <c:v>War Pigs</c:v>
                </c:pt>
                <c:pt idx="1">
                  <c:v>You Know I'm No Good (feat. Ghostface Killah)</c:v>
                </c:pt>
                <c:pt idx="2">
                  <c:v>Violent Pornography</c:v>
                </c:pt>
                <c:pt idx="3">
                  <c:v>Night Of The Long Knives</c:v>
                </c:pt>
                <c:pt idx="4">
                  <c:v>Scentless Apprentice</c:v>
                </c:pt>
              </c:strCache>
            </c:strRef>
          </c:cat>
          <c:val>
            <c:numRef>
              <c:f>'o2'!$D$2:$D$6</c:f>
              <c:numCache>
                <c:formatCode>General</c:formatCode>
                <c:ptCount val="5"/>
                <c:pt idx="0">
                  <c:v>5.94</c:v>
                </c:pt>
                <c:pt idx="1">
                  <c:v>4.95</c:v>
                </c:pt>
                <c:pt idx="2">
                  <c:v>3.96</c:v>
                </c:pt>
                <c:pt idx="3">
                  <c:v>3.96</c:v>
                </c:pt>
                <c:pt idx="4">
                  <c:v>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EF-4DC5-B6BA-1BFAC061A6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339153375"/>
        <c:axId val="1203648239"/>
      </c:barChart>
      <c:catAx>
        <c:axId val="133915337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Track_Name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648239"/>
        <c:crosses val="autoZero"/>
        <c:auto val="1"/>
        <c:lblAlgn val="ctr"/>
        <c:lblOffset val="100"/>
        <c:noMultiLvlLbl val="0"/>
      </c:catAx>
      <c:valAx>
        <c:axId val="12036482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1533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Total Customers by Country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'o3'!$B$1</c:f>
              <c:strCache>
                <c:ptCount val="1"/>
                <c:pt idx="0">
                  <c:v>customer_count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'o3'!$A$2:$A$25</c:f>
              <c:strCache>
                <c:ptCount val="24"/>
                <c:pt idx="0">
                  <c:v>Brazil</c:v>
                </c:pt>
                <c:pt idx="1">
                  <c:v>Germany</c:v>
                </c:pt>
                <c:pt idx="2">
                  <c:v>Canada</c:v>
                </c:pt>
                <c:pt idx="3">
                  <c:v>Norway</c:v>
                </c:pt>
                <c:pt idx="4">
                  <c:v>Czech Republic</c:v>
                </c:pt>
                <c:pt idx="5">
                  <c:v>Austria</c:v>
                </c:pt>
                <c:pt idx="6">
                  <c:v>Belgium</c:v>
                </c:pt>
                <c:pt idx="7">
                  <c:v>Denmark</c:v>
                </c:pt>
                <c:pt idx="8">
                  <c:v>USA</c:v>
                </c:pt>
                <c:pt idx="9">
                  <c:v>Portugal</c:v>
                </c:pt>
                <c:pt idx="10">
                  <c:v>France</c:v>
                </c:pt>
                <c:pt idx="11">
                  <c:v>Finland</c:v>
                </c:pt>
                <c:pt idx="12">
                  <c:v>Hungary</c:v>
                </c:pt>
                <c:pt idx="13">
                  <c:v>Ireland</c:v>
                </c:pt>
                <c:pt idx="14">
                  <c:v>Italy</c:v>
                </c:pt>
                <c:pt idx="15">
                  <c:v>Netherlands</c:v>
                </c:pt>
                <c:pt idx="16">
                  <c:v>Poland</c:v>
                </c:pt>
                <c:pt idx="17">
                  <c:v>Spain</c:v>
                </c:pt>
                <c:pt idx="18">
                  <c:v>Sweden</c:v>
                </c:pt>
                <c:pt idx="19">
                  <c:v>United Kingdom</c:v>
                </c:pt>
                <c:pt idx="20">
                  <c:v>Australia</c:v>
                </c:pt>
                <c:pt idx="21">
                  <c:v>Argentina</c:v>
                </c:pt>
                <c:pt idx="22">
                  <c:v>Chile</c:v>
                </c:pt>
                <c:pt idx="23">
                  <c:v>India</c:v>
                </c:pt>
              </c:strCache>
            </c:strRef>
          </c:cat>
          <c:val>
            <c:numRef>
              <c:f>'o3'!$B$2:$B$25</c:f>
              <c:numCache>
                <c:formatCode>General</c:formatCode>
                <c:ptCount val="24"/>
                <c:pt idx="0">
                  <c:v>5</c:v>
                </c:pt>
                <c:pt idx="1">
                  <c:v>4</c:v>
                </c:pt>
                <c:pt idx="2">
                  <c:v>8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13</c:v>
                </c:pt>
                <c:pt idx="9">
                  <c:v>2</c:v>
                </c:pt>
                <c:pt idx="10">
                  <c:v>5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3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6-417A-AA17-45984EE1ED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41998703"/>
        <c:axId val="1203699119"/>
      </c:barChart>
      <c:catAx>
        <c:axId val="13419987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699119"/>
        <c:crosses val="autoZero"/>
        <c:auto val="1"/>
        <c:lblAlgn val="ctr"/>
        <c:lblOffset val="100"/>
        <c:noMultiLvlLbl val="0"/>
      </c:catAx>
      <c:valAx>
        <c:axId val="12036991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Customer_Count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199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Revenue and Invoice Volume by Country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'o11-1'!$B$1</c:f>
              <c:strCache>
                <c:ptCount val="1"/>
                <c:pt idx="0">
                  <c:v>total_revenue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'o11-1'!$A$2:$A$25</c:f>
              <c:strCache>
                <c:ptCount val="24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  <c:pt idx="6">
                  <c:v>United Kingdom</c:v>
                </c:pt>
                <c:pt idx="7">
                  <c:v>Portugal</c:v>
                </c:pt>
                <c:pt idx="8">
                  <c:v>India</c:v>
                </c:pt>
                <c:pt idx="9">
                  <c:v>Ireland</c:v>
                </c:pt>
                <c:pt idx="10">
                  <c:v>Spain</c:v>
                </c:pt>
                <c:pt idx="11">
                  <c:v>Chile</c:v>
                </c:pt>
                <c:pt idx="12">
                  <c:v>Australia</c:v>
                </c:pt>
                <c:pt idx="13">
                  <c:v>Finland</c:v>
                </c:pt>
                <c:pt idx="14">
                  <c:v>Hungary</c:v>
                </c:pt>
                <c:pt idx="15">
                  <c:v>Poland</c:v>
                </c:pt>
                <c:pt idx="16">
                  <c:v>Sweden</c:v>
                </c:pt>
                <c:pt idx="17">
                  <c:v>Norway</c:v>
                </c:pt>
                <c:pt idx="18">
                  <c:v>Austria</c:v>
                </c:pt>
                <c:pt idx="19">
                  <c:v>Netherlands</c:v>
                </c:pt>
                <c:pt idx="20">
                  <c:v>Belgium</c:v>
                </c:pt>
                <c:pt idx="21">
                  <c:v>Italy</c:v>
                </c:pt>
                <c:pt idx="22">
                  <c:v>Argentina</c:v>
                </c:pt>
                <c:pt idx="23">
                  <c:v>Denmark</c:v>
                </c:pt>
              </c:strCache>
            </c:strRef>
          </c:cat>
          <c:val>
            <c:numRef>
              <c:f>'o11-1'!$B$2:$B$25</c:f>
              <c:numCache>
                <c:formatCode>General</c:formatCode>
                <c:ptCount val="24"/>
                <c:pt idx="0">
                  <c:v>1040.49</c:v>
                </c:pt>
                <c:pt idx="1">
                  <c:v>535.59</c:v>
                </c:pt>
                <c:pt idx="2">
                  <c:v>427.68</c:v>
                </c:pt>
                <c:pt idx="3">
                  <c:v>389.07</c:v>
                </c:pt>
                <c:pt idx="4">
                  <c:v>334.62</c:v>
                </c:pt>
                <c:pt idx="5">
                  <c:v>273.24</c:v>
                </c:pt>
                <c:pt idx="6">
                  <c:v>245.52</c:v>
                </c:pt>
                <c:pt idx="7">
                  <c:v>185.13</c:v>
                </c:pt>
                <c:pt idx="8">
                  <c:v>183.15</c:v>
                </c:pt>
                <c:pt idx="9">
                  <c:v>114.84</c:v>
                </c:pt>
                <c:pt idx="10">
                  <c:v>98.01</c:v>
                </c:pt>
                <c:pt idx="11">
                  <c:v>97.02</c:v>
                </c:pt>
                <c:pt idx="12">
                  <c:v>81.180000000000007</c:v>
                </c:pt>
                <c:pt idx="13">
                  <c:v>79.2</c:v>
                </c:pt>
                <c:pt idx="14">
                  <c:v>78.209999999999994</c:v>
                </c:pt>
                <c:pt idx="15">
                  <c:v>76.23</c:v>
                </c:pt>
                <c:pt idx="16">
                  <c:v>75.239999999999995</c:v>
                </c:pt>
                <c:pt idx="17">
                  <c:v>72.27</c:v>
                </c:pt>
                <c:pt idx="18">
                  <c:v>69.3</c:v>
                </c:pt>
                <c:pt idx="19">
                  <c:v>65.34</c:v>
                </c:pt>
                <c:pt idx="20">
                  <c:v>60.39</c:v>
                </c:pt>
                <c:pt idx="21">
                  <c:v>50.49</c:v>
                </c:pt>
                <c:pt idx="22">
                  <c:v>39.6</c:v>
                </c:pt>
                <c:pt idx="23">
                  <c:v>37.619999999999997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65-4201-B566-5ECFE53C7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4346911"/>
        <c:axId val="1644248527"/>
      </c:barChart>
      <c:lineChart>
        <c:grouping val="standard"/>
        <c:varyColors val="0"/>
        <c:ser>
          <c:idx val="1"/>
          <c:order val="1"/>
          <c:tx>
            <c:strRef>
              <c:f>'o11-1'!$C$1</c:f>
              <c:strCache>
                <c:ptCount val="1"/>
                <c:pt idx="0">
                  <c:v>num_invoices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'o11-1'!$A$2:$A$25</c:f>
              <c:strCache>
                <c:ptCount val="24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  <c:pt idx="6">
                  <c:v>United Kingdom</c:v>
                </c:pt>
                <c:pt idx="7">
                  <c:v>Portugal</c:v>
                </c:pt>
                <c:pt idx="8">
                  <c:v>India</c:v>
                </c:pt>
                <c:pt idx="9">
                  <c:v>Ireland</c:v>
                </c:pt>
                <c:pt idx="10">
                  <c:v>Spain</c:v>
                </c:pt>
                <c:pt idx="11">
                  <c:v>Chile</c:v>
                </c:pt>
                <c:pt idx="12">
                  <c:v>Australia</c:v>
                </c:pt>
                <c:pt idx="13">
                  <c:v>Finland</c:v>
                </c:pt>
                <c:pt idx="14">
                  <c:v>Hungary</c:v>
                </c:pt>
                <c:pt idx="15">
                  <c:v>Poland</c:v>
                </c:pt>
                <c:pt idx="16">
                  <c:v>Sweden</c:v>
                </c:pt>
                <c:pt idx="17">
                  <c:v>Norway</c:v>
                </c:pt>
                <c:pt idx="18">
                  <c:v>Austria</c:v>
                </c:pt>
                <c:pt idx="19">
                  <c:v>Netherlands</c:v>
                </c:pt>
                <c:pt idx="20">
                  <c:v>Belgium</c:v>
                </c:pt>
                <c:pt idx="21">
                  <c:v>Italy</c:v>
                </c:pt>
                <c:pt idx="22">
                  <c:v>Argentina</c:v>
                </c:pt>
                <c:pt idx="23">
                  <c:v>Denmark</c:v>
                </c:pt>
              </c:strCache>
            </c:strRef>
          </c:cat>
          <c:val>
            <c:numRef>
              <c:f>'o11-1'!$C$2:$C$25</c:f>
              <c:numCache>
                <c:formatCode>General</c:formatCode>
                <c:ptCount val="24"/>
                <c:pt idx="0">
                  <c:v>131</c:v>
                </c:pt>
                <c:pt idx="1">
                  <c:v>76</c:v>
                </c:pt>
                <c:pt idx="2">
                  <c:v>61</c:v>
                </c:pt>
                <c:pt idx="3">
                  <c:v>50</c:v>
                </c:pt>
                <c:pt idx="4">
                  <c:v>41</c:v>
                </c:pt>
                <c:pt idx="5">
                  <c:v>30</c:v>
                </c:pt>
                <c:pt idx="6">
                  <c:v>28</c:v>
                </c:pt>
                <c:pt idx="7">
                  <c:v>29</c:v>
                </c:pt>
                <c:pt idx="8">
                  <c:v>21</c:v>
                </c:pt>
                <c:pt idx="9">
                  <c:v>13</c:v>
                </c:pt>
                <c:pt idx="10">
                  <c:v>11</c:v>
                </c:pt>
                <c:pt idx="11">
                  <c:v>13</c:v>
                </c:pt>
                <c:pt idx="12">
                  <c:v>10</c:v>
                </c:pt>
                <c:pt idx="13">
                  <c:v>11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9</c:v>
                </c:pt>
                <c:pt idx="18">
                  <c:v>9</c:v>
                </c:pt>
                <c:pt idx="19">
                  <c:v>10</c:v>
                </c:pt>
                <c:pt idx="20">
                  <c:v>7</c:v>
                </c:pt>
                <c:pt idx="21">
                  <c:v>9</c:v>
                </c:pt>
                <c:pt idx="22">
                  <c:v>5</c:v>
                </c:pt>
                <c:pt idx="23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65-4201-B566-5ECFE53C7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4370111"/>
        <c:axId val="1644257647"/>
      </c:lineChart>
      <c:catAx>
        <c:axId val="16943469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4248527"/>
        <c:crosses val="autoZero"/>
        <c:auto val="1"/>
        <c:lblAlgn val="ctr"/>
        <c:lblOffset val="100"/>
        <c:noMultiLvlLbl val="0"/>
      </c:catAx>
      <c:valAx>
        <c:axId val="16442485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346911"/>
        <c:crosses val="autoZero"/>
        <c:crossBetween val="between"/>
      </c:valAx>
      <c:valAx>
        <c:axId val="164425764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num_invoices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370111"/>
        <c:crosses val="max"/>
        <c:crossBetween val="between"/>
      </c:valAx>
      <c:catAx>
        <c:axId val="16943701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4425764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Customer Churn Status (Active vs Churned)</a:t>
            </a:r>
            <a:endParaRPr lang="en-IN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EF-4450-95B9-2466E4FE425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EF-4450-95B9-2466E4FE42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'o8'!$B$9:$C$9</c:f>
              <c:strCache>
                <c:ptCount val="2"/>
                <c:pt idx="0">
                  <c:v>churned_customers</c:v>
                </c:pt>
                <c:pt idx="1">
                  <c:v>active_customers</c:v>
                </c:pt>
              </c:strCache>
            </c:strRef>
          </c:cat>
          <c:val>
            <c:numRef>
              <c:f>'o8'!$B$10:$C$10</c:f>
              <c:numCache>
                <c:formatCode>General</c:formatCode>
                <c:ptCount val="2"/>
                <c:pt idx="0">
                  <c:v>22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EF-4450-95B9-2466E4FE425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%</a:t>
            </a:r>
            <a:r>
              <a:rPr lang="en-US" baseline="0"/>
              <a:t> of USA Sales by Genre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'o9'!$C$1</c:f>
              <c:strCache>
                <c:ptCount val="1"/>
                <c:pt idx="0">
                  <c:v>pct_of_usa_sales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'o9'!$A$2:$A$18</c:f>
              <c:strCache>
                <c:ptCount val="17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Alternative</c:v>
                </c:pt>
                <c:pt idx="6">
                  <c:v>Latin</c:v>
                </c:pt>
                <c:pt idx="7">
                  <c:v>Pop</c:v>
                </c:pt>
                <c:pt idx="8">
                  <c:v>Hip Hop/Rap</c:v>
                </c:pt>
                <c:pt idx="9">
                  <c:v>Jazz</c:v>
                </c:pt>
                <c:pt idx="10">
                  <c:v>Easy Listening</c:v>
                </c:pt>
                <c:pt idx="11">
                  <c:v>Reggae</c:v>
                </c:pt>
                <c:pt idx="12">
                  <c:v>Electronica/Dance</c:v>
                </c:pt>
                <c:pt idx="13">
                  <c:v>Classical</c:v>
                </c:pt>
                <c:pt idx="14">
                  <c:v>Heavy Metal</c:v>
                </c:pt>
                <c:pt idx="15">
                  <c:v>Soundtrack</c:v>
                </c:pt>
                <c:pt idx="16">
                  <c:v>TV Shows</c:v>
                </c:pt>
              </c:strCache>
            </c:strRef>
          </c:cat>
          <c:val>
            <c:numRef>
              <c:f>'o9'!$C$2:$C$18</c:f>
              <c:numCache>
                <c:formatCode>General</c:formatCode>
                <c:ptCount val="17"/>
                <c:pt idx="0">
                  <c:v>53.38</c:v>
                </c:pt>
                <c:pt idx="1">
                  <c:v>12.37</c:v>
                </c:pt>
                <c:pt idx="2">
                  <c:v>11.8</c:v>
                </c:pt>
                <c:pt idx="3">
                  <c:v>5.04</c:v>
                </c:pt>
                <c:pt idx="4">
                  <c:v>3.43</c:v>
                </c:pt>
                <c:pt idx="5">
                  <c:v>3.33</c:v>
                </c:pt>
                <c:pt idx="6">
                  <c:v>2.09</c:v>
                </c:pt>
                <c:pt idx="7">
                  <c:v>2.09</c:v>
                </c:pt>
                <c:pt idx="8">
                  <c:v>1.9</c:v>
                </c:pt>
                <c:pt idx="9">
                  <c:v>1.33</c:v>
                </c:pt>
                <c:pt idx="10">
                  <c:v>1.24</c:v>
                </c:pt>
                <c:pt idx="11">
                  <c:v>0.56999999999999995</c:v>
                </c:pt>
                <c:pt idx="12">
                  <c:v>0.48</c:v>
                </c:pt>
                <c:pt idx="13">
                  <c:v>0.38</c:v>
                </c:pt>
                <c:pt idx="14">
                  <c:v>0.28999999999999998</c:v>
                </c:pt>
                <c:pt idx="15">
                  <c:v>0.19</c:v>
                </c:pt>
                <c:pt idx="16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30-4443-9189-51E9CCAD9E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65305407"/>
        <c:axId val="1644263407"/>
      </c:barChart>
      <c:catAx>
        <c:axId val="15653054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Genre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4263407"/>
        <c:crosses val="autoZero"/>
        <c:auto val="1"/>
        <c:lblAlgn val="ctr"/>
        <c:lblOffset val="100"/>
        <c:noMultiLvlLbl val="0"/>
      </c:catAx>
      <c:valAx>
        <c:axId val="164426340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pct_of_usa_sales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5305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Top 3 Recommended Albums for USA Promotion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's1'!$D$1</c:f>
              <c:strCache>
                <c:ptCount val="1"/>
                <c:pt idx="0">
                  <c:v>track_count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's1'!$A$2:$A$4</c:f>
              <c:strCache>
                <c:ptCount val="3"/>
                <c:pt idx="0">
                  <c:v>Are You Experienced?</c:v>
                </c:pt>
                <c:pt idx="1">
                  <c:v>Green</c:v>
                </c:pt>
                <c:pt idx="2">
                  <c:v>Mezmerize</c:v>
                </c:pt>
              </c:strCache>
              <c:extLst/>
            </c:strRef>
          </c:cat>
          <c:val>
            <c:numRef>
              <c:f>'s1'!$D$2:$D$4</c:f>
              <c:numCache>
                <c:formatCode>General</c:formatCode>
                <c:ptCount val="3"/>
                <c:pt idx="0">
                  <c:v>17</c:v>
                </c:pt>
                <c:pt idx="1">
                  <c:v>11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76-43C3-A442-33979A2FE896}"/>
            </c:ext>
          </c:extLst>
        </c:ser>
        <c:ser>
          <c:idx val="1"/>
          <c:order val="1"/>
          <c:tx>
            <c:strRef>
              <c:f>'s1'!$E$1</c:f>
              <c:strCache>
                <c:ptCount val="1"/>
                <c:pt idx="0">
                  <c:v>album_revenue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's1'!$A$2:$A$4</c:f>
              <c:strCache>
                <c:ptCount val="3"/>
                <c:pt idx="0">
                  <c:v>Are You Experienced?</c:v>
                </c:pt>
                <c:pt idx="1">
                  <c:v>Green</c:v>
                </c:pt>
                <c:pt idx="2">
                  <c:v>Mezmerize</c:v>
                </c:pt>
              </c:strCache>
              <c:extLst/>
            </c:strRef>
          </c:cat>
          <c:val>
            <c:numRef>
              <c:f>'s1'!$E$2:$E$4</c:f>
              <c:numCache>
                <c:formatCode>General</c:formatCode>
                <c:ptCount val="3"/>
                <c:pt idx="0">
                  <c:v>27.72</c:v>
                </c:pt>
                <c:pt idx="1">
                  <c:v>24.75</c:v>
                </c:pt>
                <c:pt idx="2">
                  <c:v>21.78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76-43C3-A442-33979A2FE8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35886256"/>
        <c:axId val="766383696"/>
      </c:barChart>
      <c:catAx>
        <c:axId val="9358862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6383696"/>
        <c:crosses val="autoZero"/>
        <c:auto val="1"/>
        <c:lblAlgn val="ctr"/>
        <c:lblOffset val="100"/>
        <c:noMultiLvlLbl val="0"/>
      </c:catAx>
      <c:valAx>
        <c:axId val="76638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5886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>
                <a:effectLst/>
              </a:rPr>
              <a:t>Genre vs Number of Countries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's2'!$C$1</c:f>
              <c:strCache>
                <c:ptCount val="1"/>
                <c:pt idx="0">
                  <c:v>num_countries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's2'!$A$2:$A$19</c:f>
              <c:strCache>
                <c:ptCount val="18"/>
                <c:pt idx="0">
                  <c:v>Rock</c:v>
                </c:pt>
                <c:pt idx="1">
                  <c:v>Metal</c:v>
                </c:pt>
                <c:pt idx="2">
                  <c:v>Alternative &amp; Punk</c:v>
                </c:pt>
                <c:pt idx="3">
                  <c:v>Latin</c:v>
                </c:pt>
                <c:pt idx="4">
                  <c:v>Jazz</c:v>
                </c:pt>
                <c:pt idx="5">
                  <c:v>R&amp;B/Soul</c:v>
                </c:pt>
                <c:pt idx="6">
                  <c:v>Blues</c:v>
                </c:pt>
                <c:pt idx="7">
                  <c:v>Alternative</c:v>
                </c:pt>
                <c:pt idx="8">
                  <c:v>Easy Listening</c:v>
                </c:pt>
                <c:pt idx="9">
                  <c:v>Electronica/Dance</c:v>
                </c:pt>
                <c:pt idx="10">
                  <c:v>Classical</c:v>
                </c:pt>
                <c:pt idx="11">
                  <c:v>Pop</c:v>
                </c:pt>
                <c:pt idx="12">
                  <c:v>Reggae</c:v>
                </c:pt>
                <c:pt idx="13">
                  <c:v>Hip Hop/Rap</c:v>
                </c:pt>
                <c:pt idx="14">
                  <c:v>Heavy Metal</c:v>
                </c:pt>
                <c:pt idx="15">
                  <c:v>Soundtrack</c:v>
                </c:pt>
                <c:pt idx="16">
                  <c:v>TV Shows</c:v>
                </c:pt>
                <c:pt idx="17">
                  <c:v>Drama</c:v>
                </c:pt>
              </c:strCache>
            </c:strRef>
          </c:cat>
          <c:val>
            <c:numRef>
              <c:f>'s2'!$C$2:$C$19</c:f>
              <c:numCache>
                <c:formatCode>General</c:formatCode>
                <c:ptCount val="18"/>
                <c:pt idx="0">
                  <c:v>23</c:v>
                </c:pt>
                <c:pt idx="1">
                  <c:v>23</c:v>
                </c:pt>
                <c:pt idx="2">
                  <c:v>23</c:v>
                </c:pt>
                <c:pt idx="3">
                  <c:v>21</c:v>
                </c:pt>
                <c:pt idx="4">
                  <c:v>18</c:v>
                </c:pt>
                <c:pt idx="5">
                  <c:v>18</c:v>
                </c:pt>
                <c:pt idx="6">
                  <c:v>15</c:v>
                </c:pt>
                <c:pt idx="7">
                  <c:v>22</c:v>
                </c:pt>
                <c:pt idx="8">
                  <c:v>14</c:v>
                </c:pt>
                <c:pt idx="9">
                  <c:v>13</c:v>
                </c:pt>
                <c:pt idx="10">
                  <c:v>18</c:v>
                </c:pt>
                <c:pt idx="11">
                  <c:v>14</c:v>
                </c:pt>
                <c:pt idx="12">
                  <c:v>16</c:v>
                </c:pt>
                <c:pt idx="13">
                  <c:v>9</c:v>
                </c:pt>
                <c:pt idx="14">
                  <c:v>5</c:v>
                </c:pt>
                <c:pt idx="15">
                  <c:v>3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E-495D-974F-21887910C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7906176"/>
        <c:axId val="1083890864"/>
      </c:barChart>
      <c:catAx>
        <c:axId val="111790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Genre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890864"/>
        <c:crosses val="autoZero"/>
        <c:auto val="1"/>
        <c:lblAlgn val="ctr"/>
        <c:lblOffset val="100"/>
        <c:noMultiLvlLbl val="0"/>
      </c:catAx>
      <c:valAx>
        <c:axId val="108389086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Number_Of_Countries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790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Long-term vs New Customer Purchasing Behavior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's3'!$A$2</c:f>
              <c:strCache>
                <c:ptCount val="1"/>
                <c:pt idx="0">
                  <c:v>Long-term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's3'!$B$1:$G$1</c:f>
              <c:strCache>
                <c:ptCount val="6"/>
                <c:pt idx="0">
                  <c:v>num_customers</c:v>
                </c:pt>
                <c:pt idx="1">
                  <c:v>avg_frequency</c:v>
                </c:pt>
                <c:pt idx="2">
                  <c:v>avg_basket_size</c:v>
                </c:pt>
                <c:pt idx="3">
                  <c:v>avg_order_value</c:v>
                </c:pt>
                <c:pt idx="4">
                  <c:v>avg_total_spend</c:v>
                </c:pt>
                <c:pt idx="5">
                  <c:v>avg_tenure_days</c:v>
                </c:pt>
              </c:strCache>
            </c:strRef>
          </c:cat>
          <c:val>
            <c:numRef>
              <c:f>'s3'!$B$2:$G$2</c:f>
              <c:numCache>
                <c:formatCode>General</c:formatCode>
                <c:ptCount val="6"/>
                <c:pt idx="0">
                  <c:v>46</c:v>
                </c:pt>
                <c:pt idx="1">
                  <c:v>10.85</c:v>
                </c:pt>
                <c:pt idx="2">
                  <c:v>7.81</c:v>
                </c:pt>
                <c:pt idx="3">
                  <c:v>9.82</c:v>
                </c:pt>
                <c:pt idx="4">
                  <c:v>841.84</c:v>
                </c:pt>
                <c:pt idx="5">
                  <c:v>1298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9E-4ECC-BCCC-8BA146F3310D}"/>
            </c:ext>
          </c:extLst>
        </c:ser>
        <c:ser>
          <c:idx val="1"/>
          <c:order val="1"/>
          <c:tx>
            <c:strRef>
              <c:f>'s3'!$A$3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's3'!$B$1:$G$1</c:f>
              <c:strCache>
                <c:ptCount val="6"/>
                <c:pt idx="0">
                  <c:v>num_customers</c:v>
                </c:pt>
                <c:pt idx="1">
                  <c:v>avg_frequency</c:v>
                </c:pt>
                <c:pt idx="2">
                  <c:v>avg_basket_size</c:v>
                </c:pt>
                <c:pt idx="3">
                  <c:v>avg_order_value</c:v>
                </c:pt>
                <c:pt idx="4">
                  <c:v>avg_total_spend</c:v>
                </c:pt>
                <c:pt idx="5">
                  <c:v>avg_tenure_days</c:v>
                </c:pt>
              </c:strCache>
            </c:strRef>
          </c:cat>
          <c:val>
            <c:numRef>
              <c:f>'s3'!$B$3:$G$3</c:f>
              <c:numCache>
                <c:formatCode>General</c:formatCode>
                <c:ptCount val="6"/>
                <c:pt idx="0">
                  <c:v>13</c:v>
                </c:pt>
                <c:pt idx="1">
                  <c:v>8.85</c:v>
                </c:pt>
                <c:pt idx="2">
                  <c:v>7.91</c:v>
                </c:pt>
                <c:pt idx="3">
                  <c:v>9.6</c:v>
                </c:pt>
                <c:pt idx="4">
                  <c:v>675.26</c:v>
                </c:pt>
                <c:pt idx="5">
                  <c:v>1055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9E-4ECC-BCCC-8BA146F331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8586911"/>
        <c:axId val="1368419759"/>
      </c:barChart>
      <c:catAx>
        <c:axId val="15285869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8419759"/>
        <c:crosses val="autoZero"/>
        <c:auto val="1"/>
        <c:lblAlgn val="ctr"/>
        <c:lblOffset val="100"/>
        <c:noMultiLvlLbl val="0"/>
      </c:catAx>
      <c:valAx>
        <c:axId val="1368419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586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Top 10 Genre Pairs Purchased Together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's4'!$C$1</c:f>
              <c:strCache>
                <c:ptCount val="1"/>
                <c:pt idx="0">
                  <c:v>times_bought_together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's4'!$A$2:$B$11</c:f>
              <c:multiLvlStrCache>
                <c:ptCount val="10"/>
                <c:lvl>
                  <c:pt idx="0">
                    <c:v>Metal</c:v>
                  </c:pt>
                  <c:pt idx="1">
                    <c:v>Alternative &amp; Punk</c:v>
                  </c:pt>
                  <c:pt idx="2">
                    <c:v>Alternative &amp; Punk</c:v>
                  </c:pt>
                  <c:pt idx="3">
                    <c:v>Latin</c:v>
                  </c:pt>
                  <c:pt idx="4">
                    <c:v>R&amp;B/Soul</c:v>
                  </c:pt>
                  <c:pt idx="5">
                    <c:v>Alternative</c:v>
                  </c:pt>
                  <c:pt idx="6">
                    <c:v>Blues</c:v>
                  </c:pt>
                  <c:pt idx="7">
                    <c:v>Jazz</c:v>
                  </c:pt>
                  <c:pt idx="8">
                    <c:v>R&amp;B/Soul</c:v>
                  </c:pt>
                  <c:pt idx="9">
                    <c:v>Latin</c:v>
                  </c:pt>
                </c:lvl>
                <c:lvl>
                  <c:pt idx="0">
                    <c:v>Rock</c:v>
                  </c:pt>
                  <c:pt idx="1">
                    <c:v>Rock</c:v>
                  </c:pt>
                  <c:pt idx="2">
                    <c:v>Metal</c:v>
                  </c:pt>
                  <c:pt idx="3">
                    <c:v>Rock</c:v>
                  </c:pt>
                  <c:pt idx="4">
                    <c:v>Rock</c:v>
                  </c:pt>
                  <c:pt idx="5">
                    <c:v>Rock</c:v>
                  </c:pt>
                  <c:pt idx="6">
                    <c:v>Rock</c:v>
                  </c:pt>
                  <c:pt idx="7">
                    <c:v>Rock</c:v>
                  </c:pt>
                  <c:pt idx="8">
                    <c:v>Metal</c:v>
                  </c:pt>
                  <c:pt idx="9">
                    <c:v>Metal</c:v>
                  </c:pt>
                </c:lvl>
              </c:multiLvlStrCache>
            </c:multiLvlStrRef>
          </c:cat>
          <c:val>
            <c:numRef>
              <c:f>'s4'!$C$2:$C$11</c:f>
              <c:numCache>
                <c:formatCode>General</c:formatCode>
                <c:ptCount val="10"/>
                <c:pt idx="0">
                  <c:v>223</c:v>
                </c:pt>
                <c:pt idx="1">
                  <c:v>169</c:v>
                </c:pt>
                <c:pt idx="2">
                  <c:v>96</c:v>
                </c:pt>
                <c:pt idx="3">
                  <c:v>79</c:v>
                </c:pt>
                <c:pt idx="4">
                  <c:v>65</c:v>
                </c:pt>
                <c:pt idx="5">
                  <c:v>54</c:v>
                </c:pt>
                <c:pt idx="6">
                  <c:v>49</c:v>
                </c:pt>
                <c:pt idx="7">
                  <c:v>48</c:v>
                </c:pt>
                <c:pt idx="8">
                  <c:v>40</c:v>
                </c:pt>
                <c:pt idx="9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2B-4F48-B3E9-43E0C819644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16616751"/>
        <c:axId val="1634775823"/>
      </c:barChart>
      <c:catAx>
        <c:axId val="141661675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times_bought_together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4775823"/>
        <c:crosses val="autoZero"/>
        <c:auto val="1"/>
        <c:lblAlgn val="ctr"/>
        <c:lblOffset val="100"/>
        <c:noMultiLvlLbl val="0"/>
      </c:catAx>
      <c:valAx>
        <c:axId val="16347758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Genre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616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Revenue vs Churn Rate by Country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's5'!$C$1</c:f>
              <c:strCache>
                <c:ptCount val="1"/>
                <c:pt idx="0">
                  <c:v>total_revenue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's5'!$A$2:$A$10</c:f>
              <c:strCache>
                <c:ptCount val="9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  <c:pt idx="6">
                  <c:v>United Kingdom</c:v>
                </c:pt>
                <c:pt idx="7">
                  <c:v>Portugal</c:v>
                </c:pt>
                <c:pt idx="8">
                  <c:v>India</c:v>
                </c:pt>
              </c:strCache>
            </c:strRef>
          </c:cat>
          <c:val>
            <c:numRef>
              <c:f>'s5'!$C$2:$C$10</c:f>
              <c:numCache>
                <c:formatCode>General</c:formatCode>
                <c:ptCount val="9"/>
                <c:pt idx="0">
                  <c:v>1040.49</c:v>
                </c:pt>
                <c:pt idx="1">
                  <c:v>535.59</c:v>
                </c:pt>
                <c:pt idx="2">
                  <c:v>427.68</c:v>
                </c:pt>
                <c:pt idx="3">
                  <c:v>389.07</c:v>
                </c:pt>
                <c:pt idx="4">
                  <c:v>334.62</c:v>
                </c:pt>
                <c:pt idx="5">
                  <c:v>273.24</c:v>
                </c:pt>
                <c:pt idx="6">
                  <c:v>245.52</c:v>
                </c:pt>
                <c:pt idx="7">
                  <c:v>185.13</c:v>
                </c:pt>
                <c:pt idx="8">
                  <c:v>183.15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1F-4910-951B-A91DD0A40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2465087"/>
        <c:axId val="1634837743"/>
      </c:barChart>
      <c:lineChart>
        <c:grouping val="standard"/>
        <c:varyColors val="0"/>
        <c:ser>
          <c:idx val="1"/>
          <c:order val="1"/>
          <c:tx>
            <c:strRef>
              <c:f>'s5'!$F$1</c:f>
              <c:strCache>
                <c:ptCount val="1"/>
                <c:pt idx="0">
                  <c:v>churn_rate_pct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's5'!$A$2:$A$10</c:f>
              <c:strCache>
                <c:ptCount val="9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  <c:pt idx="6">
                  <c:v>United Kingdom</c:v>
                </c:pt>
                <c:pt idx="7">
                  <c:v>Portugal</c:v>
                </c:pt>
                <c:pt idx="8">
                  <c:v>India</c:v>
                </c:pt>
              </c:strCache>
            </c:strRef>
          </c:cat>
          <c:val>
            <c:numRef>
              <c:f>'s5'!$F$2:$F$10</c:f>
              <c:numCache>
                <c:formatCode>General</c:formatCode>
                <c:ptCount val="9"/>
                <c:pt idx="0">
                  <c:v>23.08</c:v>
                </c:pt>
                <c:pt idx="1">
                  <c:v>12.5</c:v>
                </c:pt>
                <c:pt idx="2">
                  <c:v>60</c:v>
                </c:pt>
                <c:pt idx="3">
                  <c:v>40</c:v>
                </c:pt>
                <c:pt idx="4">
                  <c:v>75</c:v>
                </c:pt>
                <c:pt idx="5">
                  <c:v>0</c:v>
                </c:pt>
                <c:pt idx="6">
                  <c:v>33.33</c:v>
                </c:pt>
                <c:pt idx="7">
                  <c:v>0</c:v>
                </c:pt>
                <c:pt idx="8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1F-4910-951B-A91DD0A40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2459983"/>
        <c:axId val="1634843503"/>
      </c:lineChart>
      <c:catAx>
        <c:axId val="1672465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4837743"/>
        <c:crosses val="autoZero"/>
        <c:auto val="1"/>
        <c:lblAlgn val="ctr"/>
        <c:lblOffset val="100"/>
        <c:noMultiLvlLbl val="0"/>
      </c:catAx>
      <c:valAx>
        <c:axId val="1634837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465087"/>
        <c:crosses val="autoZero"/>
        <c:crossBetween val="between"/>
      </c:valAx>
      <c:valAx>
        <c:axId val="163484350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2459983"/>
        <c:crosses val="max"/>
        <c:crossBetween val="between"/>
      </c:valAx>
      <c:catAx>
        <c:axId val="16724599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3484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Customer Risk Distribution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's6'!$B$1</c:f>
              <c:strCache>
                <c:ptCount val="1"/>
                <c:pt idx="0">
                  <c:v>num_customers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5D0-4DDA-8C03-9C552037FA0D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5D0-4DDA-8C03-9C552037FA0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5D0-4DDA-8C03-9C552037FA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's6'!$A$2:$A$4</c:f>
              <c:strCache>
                <c:ptCount val="3"/>
                <c:pt idx="0">
                  <c:v>High Risk</c:v>
                </c:pt>
                <c:pt idx="1">
                  <c:v>Medium Risk</c:v>
                </c:pt>
                <c:pt idx="2">
                  <c:v>Low Risk</c:v>
                </c:pt>
              </c:strCache>
            </c:strRef>
          </c:cat>
          <c:val>
            <c:numRef>
              <c:f>'s6'!$B$2:$B$4</c:f>
              <c:numCache>
                <c:formatCode>General</c:formatCode>
                <c:ptCount val="3"/>
                <c:pt idx="0">
                  <c:v>1</c:v>
                </c:pt>
                <c:pt idx="1">
                  <c:v>15</c:v>
                </c:pt>
                <c:pt idx="2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5D0-4DDA-8C03-9C552037F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Average Customer Lifetime Value by Segment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's7'!$C$1</c:f>
              <c:strCache>
                <c:ptCount val="1"/>
                <c:pt idx="0">
                  <c:v>avg_lifetime_value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's7'!$A$2:$A$4</c:f>
              <c:strCache>
                <c:ptCount val="3"/>
                <c:pt idx="0">
                  <c:v>High Value</c:v>
                </c:pt>
                <c:pt idx="1">
                  <c:v>Medium Value</c:v>
                </c:pt>
                <c:pt idx="2">
                  <c:v>Low Value</c:v>
                </c:pt>
              </c:strCache>
            </c:strRef>
          </c:cat>
          <c:val>
            <c:numRef>
              <c:f>'s7'!$C$2:$C$4</c:f>
              <c:numCache>
                <c:formatCode>General</c:formatCode>
                <c:ptCount val="3"/>
                <c:pt idx="0">
                  <c:v>116.96</c:v>
                </c:pt>
                <c:pt idx="1">
                  <c:v>82.94</c:v>
                </c:pt>
                <c:pt idx="2">
                  <c:v>56.55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30-4158-9D98-F80FB7AC35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81162847"/>
        <c:axId val="780947183"/>
      </c:barChart>
      <c:catAx>
        <c:axId val="7811628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clv_segment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0947183"/>
        <c:crosses val="autoZero"/>
        <c:auto val="1"/>
        <c:lblAlgn val="ctr"/>
        <c:lblOffset val="100"/>
        <c:noMultiLvlLbl val="0"/>
      </c:catAx>
      <c:valAx>
        <c:axId val="7809471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avg_lifetime_value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1162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Monthly Revenue Trend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's8'!$E$1</c:f>
              <c:strCache>
                <c:ptCount val="1"/>
                <c:pt idx="0">
                  <c:v>monthly_revenue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's8'!$A$2:$A$49</c:f>
              <c:strCache>
                <c:ptCount val="48"/>
                <c:pt idx="0">
                  <c:v>2017-01</c:v>
                </c:pt>
                <c:pt idx="1">
                  <c:v>2017-02</c:v>
                </c:pt>
                <c:pt idx="2">
                  <c:v>2017-03</c:v>
                </c:pt>
                <c:pt idx="3">
                  <c:v>2017-04</c:v>
                </c:pt>
                <c:pt idx="4">
                  <c:v>2017-05</c:v>
                </c:pt>
                <c:pt idx="5">
                  <c:v>2017-06</c:v>
                </c:pt>
                <c:pt idx="6">
                  <c:v>2017-07</c:v>
                </c:pt>
                <c:pt idx="7">
                  <c:v>2017-08</c:v>
                </c:pt>
                <c:pt idx="8">
                  <c:v>2017-09</c:v>
                </c:pt>
                <c:pt idx="9">
                  <c:v>2017-10</c:v>
                </c:pt>
                <c:pt idx="10">
                  <c:v>2017-11</c:v>
                </c:pt>
                <c:pt idx="11">
                  <c:v>2017-12</c:v>
                </c:pt>
                <c:pt idx="12">
                  <c:v>2018-01</c:v>
                </c:pt>
                <c:pt idx="13">
                  <c:v>2018-02</c:v>
                </c:pt>
                <c:pt idx="14">
                  <c:v>2018-03</c:v>
                </c:pt>
                <c:pt idx="15">
                  <c:v>2018-04</c:v>
                </c:pt>
                <c:pt idx="16">
                  <c:v>2018-05</c:v>
                </c:pt>
                <c:pt idx="17">
                  <c:v>2018-06</c:v>
                </c:pt>
                <c:pt idx="18">
                  <c:v>2018-07</c:v>
                </c:pt>
                <c:pt idx="19">
                  <c:v>2018-08</c:v>
                </c:pt>
                <c:pt idx="20">
                  <c:v>2018-09</c:v>
                </c:pt>
                <c:pt idx="21">
                  <c:v>2018-10</c:v>
                </c:pt>
                <c:pt idx="22">
                  <c:v>2018-11</c:v>
                </c:pt>
                <c:pt idx="23">
                  <c:v>2018-12</c:v>
                </c:pt>
                <c:pt idx="24">
                  <c:v>2019-01</c:v>
                </c:pt>
                <c:pt idx="25">
                  <c:v>2019-02</c:v>
                </c:pt>
                <c:pt idx="26">
                  <c:v>2019-03</c:v>
                </c:pt>
                <c:pt idx="27">
                  <c:v>2019-04</c:v>
                </c:pt>
                <c:pt idx="28">
                  <c:v>2019-05</c:v>
                </c:pt>
                <c:pt idx="29">
                  <c:v>2019-06</c:v>
                </c:pt>
                <c:pt idx="30">
                  <c:v>2019-07</c:v>
                </c:pt>
                <c:pt idx="31">
                  <c:v>2019-08</c:v>
                </c:pt>
                <c:pt idx="32">
                  <c:v>2019-09</c:v>
                </c:pt>
                <c:pt idx="33">
                  <c:v>2019-10</c:v>
                </c:pt>
                <c:pt idx="34">
                  <c:v>2019-11</c:v>
                </c:pt>
                <c:pt idx="35">
                  <c:v>2019-12</c:v>
                </c:pt>
                <c:pt idx="36">
                  <c:v>2020-01</c:v>
                </c:pt>
                <c:pt idx="37">
                  <c:v>2020-02</c:v>
                </c:pt>
                <c:pt idx="38">
                  <c:v>2020-03</c:v>
                </c:pt>
                <c:pt idx="39">
                  <c:v>2020-04</c:v>
                </c:pt>
                <c:pt idx="40">
                  <c:v>2020-05</c:v>
                </c:pt>
                <c:pt idx="41">
                  <c:v>2020-06</c:v>
                </c:pt>
                <c:pt idx="42">
                  <c:v>2020-07</c:v>
                </c:pt>
                <c:pt idx="43">
                  <c:v>2020-08</c:v>
                </c:pt>
                <c:pt idx="44">
                  <c:v>2020-09</c:v>
                </c:pt>
                <c:pt idx="45">
                  <c:v>2020-10</c:v>
                </c:pt>
                <c:pt idx="46">
                  <c:v>2020-11</c:v>
                </c:pt>
                <c:pt idx="47">
                  <c:v>2020-12</c:v>
                </c:pt>
              </c:strCache>
            </c:strRef>
          </c:cat>
          <c:val>
            <c:numRef>
              <c:f>'s8'!$E$2:$E$49</c:f>
              <c:numCache>
                <c:formatCode>General</c:formatCode>
                <c:ptCount val="48"/>
                <c:pt idx="0">
                  <c:v>126.72</c:v>
                </c:pt>
                <c:pt idx="1">
                  <c:v>141.57</c:v>
                </c:pt>
                <c:pt idx="2">
                  <c:v>103.95</c:v>
                </c:pt>
                <c:pt idx="3">
                  <c:v>142.56</c:v>
                </c:pt>
                <c:pt idx="4">
                  <c:v>104.94</c:v>
                </c:pt>
                <c:pt idx="5">
                  <c:v>75.239999999999995</c:v>
                </c:pt>
                <c:pt idx="6">
                  <c:v>108.9</c:v>
                </c:pt>
                <c:pt idx="7">
                  <c:v>88.11</c:v>
                </c:pt>
                <c:pt idx="8">
                  <c:v>107.91</c:v>
                </c:pt>
                <c:pt idx="9">
                  <c:v>79.2</c:v>
                </c:pt>
                <c:pt idx="10">
                  <c:v>94.05</c:v>
                </c:pt>
                <c:pt idx="11">
                  <c:v>28.71</c:v>
                </c:pt>
                <c:pt idx="12">
                  <c:v>183.15</c:v>
                </c:pt>
                <c:pt idx="13">
                  <c:v>116.82</c:v>
                </c:pt>
                <c:pt idx="14">
                  <c:v>148.5</c:v>
                </c:pt>
                <c:pt idx="15">
                  <c:v>63.36</c:v>
                </c:pt>
                <c:pt idx="16">
                  <c:v>76.23</c:v>
                </c:pt>
                <c:pt idx="17">
                  <c:v>92.07</c:v>
                </c:pt>
                <c:pt idx="18">
                  <c:v>85.14</c:v>
                </c:pt>
                <c:pt idx="19">
                  <c:v>106.92</c:v>
                </c:pt>
                <c:pt idx="20">
                  <c:v>56.43</c:v>
                </c:pt>
                <c:pt idx="21">
                  <c:v>78.209999999999994</c:v>
                </c:pt>
                <c:pt idx="22">
                  <c:v>42.57</c:v>
                </c:pt>
                <c:pt idx="23">
                  <c:v>98.01</c:v>
                </c:pt>
                <c:pt idx="24">
                  <c:v>85.14</c:v>
                </c:pt>
                <c:pt idx="25">
                  <c:v>59.4</c:v>
                </c:pt>
                <c:pt idx="26">
                  <c:v>125.73</c:v>
                </c:pt>
                <c:pt idx="27">
                  <c:v>116.82</c:v>
                </c:pt>
                <c:pt idx="28">
                  <c:v>104.94</c:v>
                </c:pt>
                <c:pt idx="29">
                  <c:v>92.07</c:v>
                </c:pt>
                <c:pt idx="30">
                  <c:v>124.74</c:v>
                </c:pt>
                <c:pt idx="31">
                  <c:v>159.38999999999999</c:v>
                </c:pt>
                <c:pt idx="32">
                  <c:v>126.72</c:v>
                </c:pt>
                <c:pt idx="33">
                  <c:v>43.56</c:v>
                </c:pt>
                <c:pt idx="34">
                  <c:v>71.28</c:v>
                </c:pt>
                <c:pt idx="35">
                  <c:v>111.87</c:v>
                </c:pt>
                <c:pt idx="36">
                  <c:v>43.56</c:v>
                </c:pt>
                <c:pt idx="37">
                  <c:v>97.02</c:v>
                </c:pt>
                <c:pt idx="38">
                  <c:v>78.209999999999994</c:v>
                </c:pt>
                <c:pt idx="39">
                  <c:v>119.79</c:v>
                </c:pt>
                <c:pt idx="40">
                  <c:v>82.17</c:v>
                </c:pt>
                <c:pt idx="41">
                  <c:v>120.78</c:v>
                </c:pt>
                <c:pt idx="42">
                  <c:v>76.23</c:v>
                </c:pt>
                <c:pt idx="43">
                  <c:v>72.27</c:v>
                </c:pt>
                <c:pt idx="44">
                  <c:v>95.04</c:v>
                </c:pt>
                <c:pt idx="45">
                  <c:v>144.54</c:v>
                </c:pt>
                <c:pt idx="46">
                  <c:v>83.16</c:v>
                </c:pt>
                <c:pt idx="47">
                  <c:v>125.73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7F-4A12-84FB-F5BAC34ED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6820255"/>
        <c:axId val="1873591855"/>
      </c:barChart>
      <c:catAx>
        <c:axId val="20268202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3591855"/>
        <c:crosses val="autoZero"/>
        <c:auto val="1"/>
        <c:lblAlgn val="ctr"/>
        <c:lblOffset val="100"/>
        <c:noMultiLvlLbl val="0"/>
      </c:catAx>
      <c:valAx>
        <c:axId val="187359185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820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1" u="none" strike="noStrike" baseline="0">
                <a:effectLst/>
              </a:rPr>
              <a:t>Average Customer Spend and Track Volume by Country</a:t>
            </a:r>
            <a:endParaRPr lang="en-IN"/>
          </a:p>
        </c:rich>
      </c:tx>
      <c:layout>
        <c:manualLayout>
          <c:xMode val="edge"/>
          <c:yMode val="edge"/>
          <c:x val="0.1220207786526684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's11'!$C$1</c:f>
              <c:strCache>
                <c:ptCount val="1"/>
                <c:pt idx="0">
                  <c:v>avg_total_spent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's11'!$A$2:$A$25</c:f>
              <c:strCache>
                <c:ptCount val="24"/>
                <c:pt idx="0">
                  <c:v>Czech Republic</c:v>
                </c:pt>
                <c:pt idx="1">
                  <c:v>Ireland</c:v>
                </c:pt>
                <c:pt idx="2">
                  <c:v>Spain</c:v>
                </c:pt>
                <c:pt idx="3">
                  <c:v>Chile</c:v>
                </c:pt>
                <c:pt idx="4">
                  <c:v>Portugal</c:v>
                </c:pt>
                <c:pt idx="5">
                  <c:v>India</c:v>
                </c:pt>
                <c:pt idx="6">
                  <c:v>Brazil</c:v>
                </c:pt>
                <c:pt idx="7">
                  <c:v>Germany</c:v>
                </c:pt>
                <c:pt idx="8">
                  <c:v>United Kingdom</c:v>
                </c:pt>
                <c:pt idx="9">
                  <c:v>Australia</c:v>
                </c:pt>
                <c:pt idx="10">
                  <c:v>USA</c:v>
                </c:pt>
                <c:pt idx="11">
                  <c:v>Finland</c:v>
                </c:pt>
                <c:pt idx="12">
                  <c:v>Hungary</c:v>
                </c:pt>
                <c:pt idx="13">
                  <c:v>France</c:v>
                </c:pt>
                <c:pt idx="14">
                  <c:v>Poland</c:v>
                </c:pt>
                <c:pt idx="15">
                  <c:v>Sweden</c:v>
                </c:pt>
                <c:pt idx="16">
                  <c:v>Norway</c:v>
                </c:pt>
                <c:pt idx="17">
                  <c:v>Austria</c:v>
                </c:pt>
                <c:pt idx="18">
                  <c:v>Canada</c:v>
                </c:pt>
                <c:pt idx="19">
                  <c:v>Netherlands</c:v>
                </c:pt>
                <c:pt idx="20">
                  <c:v>Belgium</c:v>
                </c:pt>
                <c:pt idx="21">
                  <c:v>Italy</c:v>
                </c:pt>
                <c:pt idx="22">
                  <c:v>Argentina</c:v>
                </c:pt>
                <c:pt idx="23">
                  <c:v>Denmark</c:v>
                </c:pt>
              </c:strCache>
            </c:strRef>
          </c:cat>
          <c:val>
            <c:numRef>
              <c:f>'s11'!$C$2:$C$25</c:f>
              <c:numCache>
                <c:formatCode>General</c:formatCode>
                <c:ptCount val="24"/>
                <c:pt idx="0">
                  <c:v>136.62</c:v>
                </c:pt>
                <c:pt idx="1">
                  <c:v>114.84</c:v>
                </c:pt>
                <c:pt idx="2">
                  <c:v>98.01</c:v>
                </c:pt>
                <c:pt idx="3">
                  <c:v>97.02</c:v>
                </c:pt>
                <c:pt idx="4">
                  <c:v>92.57</c:v>
                </c:pt>
                <c:pt idx="5">
                  <c:v>91.58</c:v>
                </c:pt>
                <c:pt idx="6">
                  <c:v>85.54</c:v>
                </c:pt>
                <c:pt idx="7">
                  <c:v>83.66</c:v>
                </c:pt>
                <c:pt idx="8">
                  <c:v>81.84</c:v>
                </c:pt>
                <c:pt idx="9">
                  <c:v>81.180000000000007</c:v>
                </c:pt>
                <c:pt idx="10">
                  <c:v>80.040000000000006</c:v>
                </c:pt>
                <c:pt idx="11">
                  <c:v>79.2</c:v>
                </c:pt>
                <c:pt idx="12">
                  <c:v>78.209999999999994</c:v>
                </c:pt>
                <c:pt idx="13">
                  <c:v>77.81</c:v>
                </c:pt>
                <c:pt idx="14">
                  <c:v>76.23</c:v>
                </c:pt>
                <c:pt idx="15">
                  <c:v>75.239999999999995</c:v>
                </c:pt>
                <c:pt idx="16">
                  <c:v>72.27</c:v>
                </c:pt>
                <c:pt idx="17">
                  <c:v>69.3</c:v>
                </c:pt>
                <c:pt idx="18">
                  <c:v>66.95</c:v>
                </c:pt>
                <c:pt idx="19">
                  <c:v>65.34</c:v>
                </c:pt>
                <c:pt idx="20">
                  <c:v>60.39</c:v>
                </c:pt>
                <c:pt idx="21">
                  <c:v>50.49</c:v>
                </c:pt>
                <c:pt idx="22">
                  <c:v>39.6</c:v>
                </c:pt>
                <c:pt idx="23">
                  <c:v>37.619999999999997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F-4729-8BB6-70DCBD3586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06797455"/>
        <c:axId val="1528342991"/>
      </c:barChart>
      <c:lineChart>
        <c:grouping val="standard"/>
        <c:varyColors val="0"/>
        <c:ser>
          <c:idx val="1"/>
          <c:order val="1"/>
          <c:tx>
            <c:strRef>
              <c:f>'s11'!$D$1</c:f>
              <c:strCache>
                <c:ptCount val="1"/>
                <c:pt idx="0">
                  <c:v>avg_tracks_per_customer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's11'!$A$2:$A$25</c:f>
              <c:strCache>
                <c:ptCount val="24"/>
                <c:pt idx="0">
                  <c:v>Czech Republic</c:v>
                </c:pt>
                <c:pt idx="1">
                  <c:v>Ireland</c:v>
                </c:pt>
                <c:pt idx="2">
                  <c:v>Spain</c:v>
                </c:pt>
                <c:pt idx="3">
                  <c:v>Chile</c:v>
                </c:pt>
                <c:pt idx="4">
                  <c:v>Portugal</c:v>
                </c:pt>
                <c:pt idx="5">
                  <c:v>India</c:v>
                </c:pt>
                <c:pt idx="6">
                  <c:v>Brazil</c:v>
                </c:pt>
                <c:pt idx="7">
                  <c:v>Germany</c:v>
                </c:pt>
                <c:pt idx="8">
                  <c:v>United Kingdom</c:v>
                </c:pt>
                <c:pt idx="9">
                  <c:v>Australia</c:v>
                </c:pt>
                <c:pt idx="10">
                  <c:v>USA</c:v>
                </c:pt>
                <c:pt idx="11">
                  <c:v>Finland</c:v>
                </c:pt>
                <c:pt idx="12">
                  <c:v>Hungary</c:v>
                </c:pt>
                <c:pt idx="13">
                  <c:v>France</c:v>
                </c:pt>
                <c:pt idx="14">
                  <c:v>Poland</c:v>
                </c:pt>
                <c:pt idx="15">
                  <c:v>Sweden</c:v>
                </c:pt>
                <c:pt idx="16">
                  <c:v>Norway</c:v>
                </c:pt>
                <c:pt idx="17">
                  <c:v>Austria</c:v>
                </c:pt>
                <c:pt idx="18">
                  <c:v>Canada</c:v>
                </c:pt>
                <c:pt idx="19">
                  <c:v>Netherlands</c:v>
                </c:pt>
                <c:pt idx="20">
                  <c:v>Belgium</c:v>
                </c:pt>
                <c:pt idx="21">
                  <c:v>Italy</c:v>
                </c:pt>
                <c:pt idx="22">
                  <c:v>Argentina</c:v>
                </c:pt>
                <c:pt idx="23">
                  <c:v>Denmark</c:v>
                </c:pt>
              </c:strCache>
            </c:strRef>
          </c:cat>
          <c:val>
            <c:numRef>
              <c:f>'s11'!$D$2:$D$25</c:f>
              <c:numCache>
                <c:formatCode>General</c:formatCode>
                <c:ptCount val="24"/>
                <c:pt idx="0">
                  <c:v>138</c:v>
                </c:pt>
                <c:pt idx="1">
                  <c:v>116</c:v>
                </c:pt>
                <c:pt idx="2">
                  <c:v>99</c:v>
                </c:pt>
                <c:pt idx="3">
                  <c:v>98</c:v>
                </c:pt>
                <c:pt idx="4">
                  <c:v>93.5</c:v>
                </c:pt>
                <c:pt idx="5">
                  <c:v>92.5</c:v>
                </c:pt>
                <c:pt idx="6">
                  <c:v>86.4</c:v>
                </c:pt>
                <c:pt idx="7">
                  <c:v>84.5</c:v>
                </c:pt>
                <c:pt idx="8">
                  <c:v>82.67</c:v>
                </c:pt>
                <c:pt idx="9">
                  <c:v>82</c:v>
                </c:pt>
                <c:pt idx="10">
                  <c:v>80.849999999999994</c:v>
                </c:pt>
                <c:pt idx="11">
                  <c:v>80</c:v>
                </c:pt>
                <c:pt idx="12">
                  <c:v>79</c:v>
                </c:pt>
                <c:pt idx="13">
                  <c:v>78.599999999999994</c:v>
                </c:pt>
                <c:pt idx="14">
                  <c:v>77</c:v>
                </c:pt>
                <c:pt idx="15">
                  <c:v>76</c:v>
                </c:pt>
                <c:pt idx="16">
                  <c:v>73</c:v>
                </c:pt>
                <c:pt idx="17">
                  <c:v>70</c:v>
                </c:pt>
                <c:pt idx="18">
                  <c:v>67.63</c:v>
                </c:pt>
                <c:pt idx="19">
                  <c:v>66</c:v>
                </c:pt>
                <c:pt idx="20">
                  <c:v>61</c:v>
                </c:pt>
                <c:pt idx="21">
                  <c:v>51</c:v>
                </c:pt>
                <c:pt idx="22">
                  <c:v>40</c:v>
                </c:pt>
                <c:pt idx="23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4F-4729-8BB6-70DCBD3586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98918863"/>
        <c:axId val="1528342511"/>
      </c:lineChart>
      <c:catAx>
        <c:axId val="1506797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342991"/>
        <c:crosses val="autoZero"/>
        <c:auto val="1"/>
        <c:lblAlgn val="ctr"/>
        <c:lblOffset val="100"/>
        <c:noMultiLvlLbl val="0"/>
      </c:catAx>
      <c:valAx>
        <c:axId val="152834299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Average_Total_Spent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6797455"/>
        <c:crosses val="autoZero"/>
        <c:crossBetween val="between"/>
      </c:valAx>
      <c:valAx>
        <c:axId val="152834251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Average_Tracks_Per_Customer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8918863"/>
        <c:crosses val="max"/>
        <c:crossBetween val="between"/>
      </c:valAx>
      <c:catAx>
        <c:axId val="14989188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83425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56583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134641"/>
            <a:ext cx="9101137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F8FAFC"/>
                </a:solidFill>
                <a:latin typeface="Plus Jakarta Sans"/>
              </a:rPr>
              <a:t>Chinook Music Store </a:t>
            </a:r>
            <a:r>
              <a:rPr lang="en-US" sz="4800" b="1" dirty="0">
                <a:solidFill>
                  <a:srgbClr val="F8FAFC"/>
                </a:solidFill>
                <a:latin typeface="Plus Jakarta Sans"/>
              </a:rPr>
              <a:t>Project</a:t>
            </a:r>
            <a:endParaRPr sz="48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4275683"/>
            <a:ext cx="136082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94A3B8"/>
                </a:solidFill>
                <a:latin typeface="Plus Jakarta Sans"/>
              </a:rPr>
              <a:t>Koushik </a:t>
            </a:r>
            <a:r>
              <a:rPr lang="en-US" sz="1650" b="1" dirty="0" err="1">
                <a:solidFill>
                  <a:srgbClr val="94A3B8"/>
                </a:solidFill>
                <a:latin typeface="Plus Jakarta Sans"/>
              </a:rPr>
              <a:t>Yarram</a:t>
            </a:r>
            <a:endParaRPr sz="1650" b="1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4575721"/>
            <a:ext cx="269246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0" i="0" u="none" dirty="0">
                <a:solidFill>
                  <a:srgbClr val="94A3B8"/>
                </a:solidFill>
                <a:latin typeface="Plus Jakarta Sans"/>
              </a:rPr>
              <a:t>Newton_School_May_2026_Batch</a:t>
            </a:r>
            <a:endParaRPr lang="en-IN" sz="1500" b="0" i="0" u="none" dirty="0">
              <a:solidFill>
                <a:srgbClr val="94A3B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92710"/>
            <a:ext cx="2571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592710"/>
            <a:ext cx="2571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592710"/>
            <a:ext cx="2571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592710"/>
            <a:ext cx="2571750" cy="1714500"/>
          </a:xfrm>
          <a:prstGeom prst="roundRect">
            <a:avLst>
              <a:gd name="adj" fmla="val 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592710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9950" y="3592710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3592710"/>
            <a:ext cx="2571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1916310"/>
            <a:ext cx="9525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334155"/>
                </a:solidFill>
                <a:latin typeface="Plus Jakarta Sans"/>
              </a:rPr>
              <a:t>Chinook Record Store requires strategic optimization across business operations, marketing, and catalog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814" y="3935610"/>
            <a:ext cx="2575321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Business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131" y="4564260"/>
            <a:ext cx="2452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Identify top products &amp; global genre trends.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8164" y="3935610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Data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9481" y="4326135"/>
            <a:ext cx="2452687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Measure retention and identify high-value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514" y="3935610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 Customer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9831" y="4326135"/>
            <a:ext cx="2452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lus Jakarta Sans"/>
              </a:rPr>
              <a:t>Understand behavior and pinpoint churn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8864" y="3897510"/>
            <a:ext cx="257532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4. Business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181" y="4288035"/>
            <a:ext cx="2452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E0F2FE"/>
                </a:solidFill>
                <a:latin typeface="Plus Jakarta Sans"/>
              </a:rPr>
              <a:t>Develop targeted promotional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505450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03895"/>
            <a:ext cx="2571750" cy="1631602"/>
          </a:xfrm>
          <a:prstGeom prst="roundRect">
            <a:avLst>
              <a:gd name="adj" fmla="val 7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1403895"/>
            <a:ext cx="2571750" cy="1631602"/>
          </a:xfrm>
          <a:prstGeom prst="roundRect">
            <a:avLst>
              <a:gd name="adj" fmla="val 7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1403895"/>
            <a:ext cx="2571750" cy="1631602"/>
          </a:xfrm>
          <a:prstGeom prst="roundRect">
            <a:avLst>
              <a:gd name="adj" fmla="val 7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1403895"/>
            <a:ext cx="2571750" cy="1631602"/>
          </a:xfrm>
          <a:prstGeom prst="roundRect">
            <a:avLst>
              <a:gd name="adj" fmla="val 70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264098"/>
            <a:ext cx="2571750" cy="1631751"/>
          </a:xfrm>
          <a:prstGeom prst="roundRect">
            <a:avLst>
              <a:gd name="adj" fmla="val 70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09950" y="3264098"/>
            <a:ext cx="2571750" cy="1631751"/>
          </a:xfrm>
          <a:prstGeom prst="roundRect">
            <a:avLst>
              <a:gd name="adj" fmla="val 70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0300" y="3264098"/>
            <a:ext cx="2571750" cy="1631751"/>
          </a:xfrm>
          <a:prstGeom prst="roundRect">
            <a:avLst>
              <a:gd name="adj" fmla="val 70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10650" y="3264098"/>
            <a:ext cx="2571750" cy="1631751"/>
          </a:xfrm>
          <a:prstGeom prst="roundRect">
            <a:avLst>
              <a:gd name="adj" fmla="val 70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CHINOOK DIGITAL MUSIC STORE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34050"/>
            <a:ext cx="10458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Data Quality: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 High integrity. Zero duplicate primary keys. Expected NULLs in optional customer contact fields and track composers. Total 4,757 invoice lines analyzed.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4975" y="1781472"/>
            <a:ext cx="66675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284C7"/>
                </a:solidFill>
                <a:latin typeface="Plus Jakarta Sans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2438697"/>
            <a:ext cx="2166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RELATIONAL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1781472"/>
            <a:ext cx="8382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284C7"/>
                </a:solidFill>
                <a:latin typeface="Plus Jakarta Sans"/>
              </a:rPr>
              <a:t>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8137" y="2438697"/>
            <a:ext cx="1381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662" y="1781472"/>
            <a:ext cx="86677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284C7"/>
                </a:solidFill>
                <a:latin typeface="Plus Jakarta Sans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350" y="2438697"/>
            <a:ext cx="1295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0762" y="1781472"/>
            <a:ext cx="1057275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284C7"/>
                </a:solidFill>
                <a:latin typeface="Plus Jakarta Sans"/>
              </a:rPr>
              <a:t>614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2662" y="2438697"/>
            <a:ext cx="1133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INVOICES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3487" y="3641824"/>
            <a:ext cx="1654968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3,485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2575" y="4299049"/>
            <a:ext cx="9715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TRACKS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3641824"/>
            <a:ext cx="112395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347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3875" y="4299049"/>
            <a:ext cx="1009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ALBUMS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641824"/>
            <a:ext cx="11049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274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3750" y="4299049"/>
            <a:ext cx="990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ARTISTS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0300" y="3641824"/>
            <a:ext cx="8382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Plus Jakarta Sans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4100" y="4299049"/>
            <a:ext cx="990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GENRES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27670"/>
            <a:ext cx="7283499" cy="5273129"/>
          </a:xfrm>
          <a:prstGeom prst="roundRect">
            <a:avLst>
              <a:gd name="adj" fmla="val 2167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74099" y="1280070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74099" y="2223045"/>
            <a:ext cx="38100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74099" y="2927895"/>
            <a:ext cx="38100" cy="476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74099" y="3632745"/>
            <a:ext cx="38100" cy="714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Database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3134" y="3297435"/>
            <a:ext cx="453628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4748B"/>
                </a:solidFill>
                <a:latin typeface="Plus Jakarta Sans"/>
              </a:rPr>
              <a:t>[SCHEMA / ERD PLACEHOLDER]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962" y="3735585"/>
            <a:ext cx="5000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Insert: Chinook Database ERD / Schema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353" y="4030860"/>
            <a:ext cx="255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Plus Jakarta Sans"/>
              </a:rPr>
              <a:t>Size visually to fill this region.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4599" y="1280070"/>
            <a:ext cx="32130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Core transactional flow flows from Customer to Invoice to Invoice_Line.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4599" y="2223045"/>
            <a:ext cx="32130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293B"/>
                </a:solidFill>
                <a:latin typeface="Plus Jakarta Sans"/>
              </a:rPr>
              <a:t>Track connects directly to Album and </a:t>
            </a:r>
            <a:r>
              <a:rPr lang="en-US" sz="1500" b="1" dirty="0">
                <a:solidFill>
                  <a:srgbClr val="1E293B"/>
                </a:solidFill>
                <a:latin typeface="Plus Jakarta Sans"/>
              </a:rPr>
              <a:t>Genre</a:t>
            </a:r>
            <a:r>
              <a:rPr sz="1500" b="1" i="0" u="none" dirty="0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4599" y="2927895"/>
            <a:ext cx="32130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Tracks strictly categorized by Genre and Media_Type.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4599" y="3632745"/>
            <a:ext cx="32130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Plus Jakarta Sans"/>
              </a:rPr>
              <a:t>Employee table represents organizational reporting structure.</a:t>
            </a:r>
          </a:p>
        </p:txBody>
      </p:sp>
      <p:pic>
        <p:nvPicPr>
          <p:cNvPr id="16" name="Google Shape;79;p17">
            <a:extLst>
              <a:ext uri="{FF2B5EF4-FFF2-40B4-BE49-F238E27FC236}">
                <a16:creationId xmlns:a16="http://schemas.microsoft.com/office/drawing/2014/main" id="{9282D39A-FE15-158C-FA6C-06A8A5DA05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600" y="1127670"/>
            <a:ext cx="7283499" cy="533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771947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415605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81935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771947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415605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81935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3784434" cy="360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Top Tracks in the USA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000547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276772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Rock and Alternative/Metal exclusively dominate top 5 sold tracks.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644205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920430"/>
            <a:ext cx="3144589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u="none" dirty="0">
                <a:solidFill>
                  <a:srgbClr val="1E293B"/>
                </a:solidFill>
                <a:latin typeface="Plus Jakarta Sans"/>
              </a:rPr>
              <a:t>War Pigs leads with $5.94 revenue (6 units sold), nearly 20% more than the 2nd ranked track, showing a clear frontrunner.</a:t>
            </a:r>
            <a:endParaRPr sz="1350"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4460" y="504795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32417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Sales volume mirrors revenue, indicating consistent track pricing.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A4E59F1B-5D2A-1129-B8C3-20C29ADA87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281531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891903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295650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699396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891903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295650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699396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Global Customer Demographics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120503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396728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USA commands largest global customer base with 13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524250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800475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Canada represents strong secondary market with 8 customers.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4927996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204221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Brazil (5), France, Germany, and UK drive critical international growth.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9C28BAD4-B0F6-5C0D-30E1-11C55DA917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5367845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75860" y="2357736"/>
            <a:ext cx="3544639" cy="84653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5859" y="4339717"/>
            <a:ext cx="3544639" cy="1196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1625" y="2391483"/>
            <a:ext cx="45719" cy="81278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59" y="4339717"/>
            <a:ext cx="45719" cy="119656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Revenue Generation by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759" y="1446312"/>
            <a:ext cx="415423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 dirty="0">
                <a:solidFill>
                  <a:srgbClr val="0284C7"/>
                </a:solidFill>
                <a:latin typeface="Plus Jakarta Sans"/>
              </a:rPr>
              <a:t>$1,040.49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5860" y="2073176"/>
            <a:ext cx="41542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TOP REVENUE (USA)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3624" y="2368451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7784" y="2608102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1E293B"/>
                </a:solidFill>
                <a:latin typeface="Plus Jakarta Sans"/>
              </a:rPr>
              <a:t>Canada follows USA generating $535.59 in total revenue.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7344" y="4339716"/>
            <a:ext cx="9970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KEY INSIGHT 0</a:t>
            </a:r>
            <a:r>
              <a:rPr lang="en-US" sz="1200" b="1" i="0" u="none" dirty="0">
                <a:solidFill>
                  <a:srgbClr val="0284C7"/>
                </a:solidFill>
                <a:latin typeface="Plus Jakarta Sans"/>
              </a:rPr>
              <a:t>3</a:t>
            </a:r>
            <a:endParaRPr sz="12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631" y="4646414"/>
            <a:ext cx="3144589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u="none" dirty="0">
                <a:solidFill>
                  <a:srgbClr val="1E293B"/>
                </a:solidFill>
                <a:latin typeface="Plus Jakarta Sans"/>
              </a:rPr>
              <a:t>Brazil ranks 3rd globally with $427.68, making it the strongest emerging market outside North America</a:t>
            </a:r>
            <a:r>
              <a:rPr sz="1350" b="1" i="0" u="none" dirty="0">
                <a:solidFill>
                  <a:srgbClr val="1E293B"/>
                </a:solidFill>
                <a:latin typeface="Plus Jakarta San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7B8D30-4EF7-2661-0506-448AAFB2E2DA}"/>
              </a:ext>
            </a:extLst>
          </p:cNvPr>
          <p:cNvSpPr/>
          <p:nvPr/>
        </p:nvSpPr>
        <p:spPr>
          <a:xfrm>
            <a:off x="8028608" y="3280470"/>
            <a:ext cx="3591891" cy="937021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825A9C-3BD9-8C3D-FF4C-BFED99A751C1}"/>
              </a:ext>
            </a:extLst>
          </p:cNvPr>
          <p:cNvSpPr/>
          <p:nvPr/>
        </p:nvSpPr>
        <p:spPr>
          <a:xfrm>
            <a:off x="8041624" y="3280584"/>
            <a:ext cx="45719" cy="93690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FA82C2-B6E2-5C61-321D-23C474BAA6E6}"/>
              </a:ext>
            </a:extLst>
          </p:cNvPr>
          <p:cNvSpPr txBox="1"/>
          <p:nvPr/>
        </p:nvSpPr>
        <p:spPr>
          <a:xfrm>
            <a:off x="8113624" y="3286237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9077E-DF04-8E6B-816D-65F62F8377FC}"/>
              </a:ext>
            </a:extLst>
          </p:cNvPr>
          <p:cNvSpPr txBox="1"/>
          <p:nvPr/>
        </p:nvSpPr>
        <p:spPr>
          <a:xfrm>
            <a:off x="8228632" y="3553123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1E293B"/>
                </a:solidFill>
                <a:latin typeface="Plus Jakarta Sans"/>
              </a:rPr>
              <a:t>Major cities like Brasilia, Paris and Berlin anchor respective country revenues.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5B5C79E-03DB-E459-0C3E-753BAFB335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698787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3097708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4501455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3097708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4501455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Overall Customer 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760" y="1849933"/>
            <a:ext cx="415423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E11D48"/>
                </a:solidFill>
                <a:latin typeface="Plus Jakarta Sans"/>
              </a:rPr>
              <a:t>37.29%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760" y="2535733"/>
            <a:ext cx="41542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CUSTOMER CHURN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3326308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3602533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22 out of 59 customers show no purchases in last 3 months.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4730055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5006280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Over one-third of customer base requires urgent re-engagement attention.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88D23EE-4EFC-E7B0-F793-CB0BA7DF3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541124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3217664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4621410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3217664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4621410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Genre Market Share in the 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3446264"/>
            <a:ext cx="9970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KEY INSIGHT 0</a:t>
            </a:r>
            <a:r>
              <a:rPr lang="en-US" sz="1200" b="1" i="0" u="none" dirty="0">
                <a:solidFill>
                  <a:srgbClr val="0284C7"/>
                </a:solidFill>
                <a:latin typeface="Plus Jakarta Sans"/>
              </a:rPr>
              <a:t>2</a:t>
            </a:r>
            <a:endParaRPr sz="12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4460" y="3722489"/>
            <a:ext cx="3144589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u="none" dirty="0">
                <a:solidFill>
                  <a:srgbClr val="1E293B"/>
                </a:solidFill>
                <a:latin typeface="Plus Jakarta Sans"/>
              </a:rPr>
              <a:t>Alternative &amp; Punk (12.37%) and Metal (11.8%) form a strong secondary cluster, together accounting for ~24% of USA sales.</a:t>
            </a:r>
            <a:endParaRPr sz="1350"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04460" y="4850010"/>
            <a:ext cx="9970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KEY INSIGHT 0</a:t>
            </a:r>
            <a:r>
              <a:rPr lang="en-US" sz="1200" b="1" i="0" u="none" dirty="0">
                <a:solidFill>
                  <a:srgbClr val="0284C7"/>
                </a:solidFill>
                <a:latin typeface="Plus Jakarta Sans"/>
              </a:rPr>
              <a:t>3</a:t>
            </a:r>
            <a:endParaRPr sz="1200" b="1" i="0" u="none" dirty="0">
              <a:solidFill>
                <a:srgbClr val="0284C7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4460" y="5126235"/>
            <a:ext cx="3144589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u="none" dirty="0">
                <a:solidFill>
                  <a:srgbClr val="1E293B"/>
                </a:solidFill>
                <a:latin typeface="Plus Jakarta Sans"/>
              </a:rPr>
              <a:t>Remaining 14 genres share only ~12% of sales — indicating a highly concentrated market with a clear Top 3 dominance.</a:t>
            </a:r>
            <a:endParaRPr sz="1350" b="1" i="0" u="none" dirty="0">
              <a:solidFill>
                <a:srgbClr val="1E293B"/>
              </a:solidFill>
              <a:latin typeface="Plus Jakarta Sans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7BA9EDE9-2D99-E5F0-106B-15D2EE4244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0382869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D490BF00-2E34-EEE9-F03E-0670949B48A3}"/>
              </a:ext>
            </a:extLst>
          </p:cNvPr>
          <p:cNvSpPr/>
          <p:nvPr/>
        </p:nvSpPr>
        <p:spPr>
          <a:xfrm>
            <a:off x="8048840" y="1848830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6B4B16-6D12-6937-1F41-9C3C8A5EA14C}"/>
              </a:ext>
            </a:extLst>
          </p:cNvPr>
          <p:cNvSpPr/>
          <p:nvPr/>
        </p:nvSpPr>
        <p:spPr>
          <a:xfrm>
            <a:off x="8048840" y="1848830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0E344E-A849-773A-F008-8D17EB2A0552}"/>
              </a:ext>
            </a:extLst>
          </p:cNvPr>
          <p:cNvSpPr txBox="1"/>
          <p:nvPr/>
        </p:nvSpPr>
        <p:spPr>
          <a:xfrm>
            <a:off x="8315540" y="2077430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06A0AE-F906-1457-7A79-049F0084C7D1}"/>
              </a:ext>
            </a:extLst>
          </p:cNvPr>
          <p:cNvSpPr txBox="1"/>
          <p:nvPr/>
        </p:nvSpPr>
        <p:spPr>
          <a:xfrm>
            <a:off x="8315540" y="2353655"/>
            <a:ext cx="3144589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1" i="0" u="none" dirty="0">
                <a:solidFill>
                  <a:srgbClr val="1E293B"/>
                </a:solidFill>
                <a:latin typeface="Plus Jakarta Sans"/>
              </a:rPr>
              <a:t>Rock dominates the USA market with 53.38% market share ($554.40), more than all other genres combined.</a:t>
            </a:r>
            <a:endParaRPr sz="1350" b="1" i="0" u="none" dirty="0">
              <a:solidFill>
                <a:srgbClr val="1E293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891903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295650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699396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891903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295650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699396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Promotional Recommendations for the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120503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396728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"Are You Experienced?" by Jimi Hendrix leads top US genre.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524250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800475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"Green" by R.E.M. performs strongest in Alternative &amp; Punk.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4927996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204221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"Mezmerize" by System Of A Down represents prime Metal candidate.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63A42A4-57C7-BFAA-42A6-28D1DE05E1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0008779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771947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175694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81935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771947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175694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81935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Top Genres Outside the 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000547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276772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Rock reliably remains the leading genre across international markets.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404294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680519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Latin music demonstrates prominent traction specifically in South America.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504795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32417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Metal secures strong market footing throughout European territories.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FE51FF8-E58F-A5E7-E0F4-A790DB3DBB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9406551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771947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415605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81935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771947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415605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81935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Customer Purchasing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000547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276772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Long-term customers purchase approximately 23% more frequently than new customers.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644205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920430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Lifetime spend runs 25% higher for long-term users ($841 vs $675).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504795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32417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Basket sizes remain nearly identical at approximately $9.80 per order.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88B9DF8-DB2E-4A6B-4DB8-22C0B685D8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241666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771947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415605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81935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771947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415605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81935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Frequently Bought Together — Product Affinity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000547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276772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Rock + Metal represents primary co-purchase behavior occurring 219 times.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644205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920430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Rock anchors broader catalogs appearing in 4 of top 5 pairs.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504795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32417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Green Day and Foo Fighters act as most frequently bundled artists.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7A2C025-997C-FBDC-D51A-70FD12F17A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4600785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65199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055739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699396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65199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055739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699396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Regional Market Analysis &amp;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188059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15681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Germany exhibits severe 75% churn; Brazil follows at 60% churn.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284339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560564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Czech Republic and Portugal achieve 0% churn alongside high average spend.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4927996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204221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USA anchors revenue baseline while maintaining moderate 23% churn levels.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795776B-8E7D-1A32-455F-A1F85F3F7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779377"/>
              </p:ext>
            </p:extLst>
          </p:nvPr>
        </p:nvGraphicFramePr>
        <p:xfrm>
          <a:off x="609600" y="1403895"/>
          <a:ext cx="7074824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5308401"/>
          </a:xfrm>
          <a:prstGeom prst="roundRect">
            <a:avLst>
              <a:gd name="adj" fmla="val 2153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2451645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85539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5259139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2451645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85539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5259139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Customer Risk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2680245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956470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73% of customers (43 users) classified as stable Low Risk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408399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436021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15 Medium Risk customers represent direct win-back campaign targets.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5487739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763964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Low Risk customers historically outspend High Risk customers by 36%.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760" y="1403895"/>
            <a:ext cx="212024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284C7"/>
                </a:solidFill>
                <a:latin typeface="Plus Jakarta Sans"/>
              </a:rPr>
              <a:t>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760" y="1937295"/>
            <a:ext cx="212024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LOW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6354" y="1403895"/>
            <a:ext cx="212024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6354" y="1937295"/>
            <a:ext cx="212024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MED RISK USERS</a:t>
            </a: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C415BB50-66D2-A5BB-8DDC-A1A6744D8E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2387043"/>
              </p:ext>
            </p:extLst>
          </p:nvPr>
        </p:nvGraphicFramePr>
        <p:xfrm>
          <a:off x="609600" y="1403895"/>
          <a:ext cx="7074824" cy="5308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651992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055739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699396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651992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055739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699396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Customer Lifetime Value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188059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156817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7 High Value segment customers spend robust $116.96 on average.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284339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560564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Purchase frequency strongly associates with overall lifetime customer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4927996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204221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Recency and frequency indicators outweigh genre breadth regarding churn signals.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A318FA3-B8BF-EEFC-FA59-0C7A3DF99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499420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4996904"/>
          </a:xfrm>
          <a:prstGeom prst="roundRect">
            <a:avLst>
              <a:gd name="adj" fmla="val 2287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532036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175694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819352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532036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175694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819352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Campaign Impact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4460" y="1760636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2036861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Monthly revenue fluctuates substantially between approximately $28 and $142.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3404294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680519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Returning customers account for predominant revenue volume post early-2017.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5047952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5324177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Low-revenue months like June and December represent targeted promotional opportunities.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89AED09-1068-6530-9774-DA82C5F34E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890378"/>
              </p:ext>
            </p:extLst>
          </p:nvPr>
        </p:nvGraphicFramePr>
        <p:xfrm>
          <a:off x="609600" y="1403895"/>
          <a:ext cx="7047160" cy="4996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3895"/>
            <a:ext cx="7047160" cy="5110162"/>
          </a:xfrm>
          <a:prstGeom prst="roundRect">
            <a:avLst>
              <a:gd name="adj" fmla="val 2236"/>
            </a:avLst>
          </a:prstGeom>
          <a:solidFill>
            <a:srgbClr val="F8FAFC"/>
          </a:solidFill>
          <a:ln w="285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37760" y="1403895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37760" y="3047553"/>
            <a:ext cx="3544639" cy="1453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37760" y="4691211"/>
            <a:ext cx="3544639" cy="121324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37760" y="1403895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37760" y="3047553"/>
            <a:ext cx="38100" cy="145315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7760" y="4691211"/>
            <a:ext cx="38100" cy="121324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33425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Average Customer Spend by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760" y="6171158"/>
            <a:ext cx="363988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Note: Interpret average spend alongside customer count to avoid over-interpreting small markets.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4460" y="1632495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460" y="1908720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Czech Republic achieves peak $136.62 average spend despite 2 customers.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460" y="3276153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460" y="3552378"/>
            <a:ext cx="314458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Ireland, Spain, Portugal, and Germany emerge as higher-value European markets.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460" y="4919811"/>
            <a:ext cx="38116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KEY INSIGHT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4460" y="5196036"/>
            <a:ext cx="314458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E293B"/>
                </a:solidFill>
                <a:latin typeface="Plus Jakarta Sans"/>
              </a:rPr>
              <a:t>USA commands largest volume base but ranks 11th in average spend.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B2BF5D53-A5E0-D2E8-2347-284386B25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709417"/>
              </p:ext>
            </p:extLst>
          </p:nvPr>
        </p:nvGraphicFramePr>
        <p:xfrm>
          <a:off x="609600" y="1403895"/>
          <a:ext cx="7047160" cy="511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27670"/>
            <a:ext cx="5334000" cy="2484090"/>
          </a:xfrm>
          <a:prstGeom prst="roundRect">
            <a:avLst>
              <a:gd name="adj" fmla="val 46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127670"/>
            <a:ext cx="5334000" cy="2484090"/>
          </a:xfrm>
          <a:prstGeom prst="roundRect">
            <a:avLst>
              <a:gd name="adj" fmla="val 46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16560"/>
            <a:ext cx="5334000" cy="2484239"/>
          </a:xfrm>
          <a:prstGeom prst="roundRect">
            <a:avLst>
              <a:gd name="adj" fmla="val 46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3916560"/>
            <a:ext cx="5334000" cy="2484239"/>
          </a:xfrm>
          <a:prstGeom prst="roundRect">
            <a:avLst>
              <a:gd name="adj" fmla="val 46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Strategic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1441995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183252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Focus US promotional activity on strong Rock performers.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34687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Test Rock + Metal cross-selling bundles to maximize existing affinity.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1441995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183252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Prioritize win-back campaigns for Medium Risk customers.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34687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Focus heavily on higher-churn markets such as Germany and Brazil.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230885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LOYALTY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62141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Consider deploying frequency-based loyalty strategies.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513576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Purchasing frequency associates strongly with overall customer lifetime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230885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lus Jakarta Sans"/>
              </a:rPr>
              <a:t>GLOBAL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62141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Explore localized Latin music promotions in South America.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5135760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Pursue premium album opportunities across higher-value European markets.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151239"/>
            <a:ext cx="10972800" cy="1249560"/>
          </a:xfrm>
          <a:prstGeom prst="roundRect">
            <a:avLst>
              <a:gd name="adj" fmla="val 6098"/>
            </a:avLst>
          </a:prstGeom>
          <a:solidFill>
            <a:srgbClr val="0C2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151239"/>
            <a:ext cx="57150" cy="12495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0600" y="1491555"/>
            <a:ext cx="38100" cy="2857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90600" y="2005905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90600" y="2806005"/>
            <a:ext cx="38100" cy="571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0600" y="3606105"/>
            <a:ext cx="38100" cy="2857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0600" y="4120455"/>
            <a:ext cx="38100" cy="2857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Plus Jakarta San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9778" y="5456039"/>
            <a:ext cx="12508706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1800" b="1" i="0" u="none">
                <a:solidFill>
                  <a:srgbClr val="E0F2FE"/>
                </a:solidFill>
                <a:latin typeface="Plus Jakarta Sans"/>
              </a:rPr>
              <a:t>"SQL analysis transforms transactional data into actionable insights across customers, products, markets and retention."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1491555"/>
            <a:ext cx="1097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Chinook maintains highly engaged core customer base driven heavily by Rock genre.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005905"/>
            <a:ext cx="10077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USA generates peak overall revenue; several European markets demonstrate higher average customer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806005"/>
            <a:ext cx="10077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Customer frequency and recency emerge as critical dimensions dictating retention and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606105"/>
            <a:ext cx="1097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Elevated churn across Germany and Brazil warrants targeted intervention.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120455"/>
            <a:ext cx="1097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Genre-specific and region-specific strategies present clear tactical expansion vectors.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1251</Words>
  <Application>Microsoft Office PowerPoint</Application>
  <PresentationFormat>Widescreen</PresentationFormat>
  <Paragraphs>199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yerram koushik</dc:creator>
  <cp:keywords/>
  <dc:description>generated using python-pptx</dc:description>
  <cp:lastModifiedBy>yerram koushik</cp:lastModifiedBy>
  <cp:revision>10</cp:revision>
  <dcterms:created xsi:type="dcterms:W3CDTF">2013-01-27T09:14:16Z</dcterms:created>
  <dcterms:modified xsi:type="dcterms:W3CDTF">2026-09-24T18:21:45Z</dcterms:modified>
  <cp:category/>
</cp:coreProperties>
</file>